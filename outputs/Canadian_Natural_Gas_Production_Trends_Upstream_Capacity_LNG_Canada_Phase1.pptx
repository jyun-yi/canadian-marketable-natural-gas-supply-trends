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0287000" cx="18288000"/>
  <p:notesSz cx="6858000" cy="9144000"/>
  <p:embeddedFontLst>
    <p:embeddedFont>
      <p:font typeface="Inter Light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Inter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Light-bold.fntdata"/><Relationship Id="rId25" Type="http://schemas.openxmlformats.org/officeDocument/2006/relationships/font" Target="fonts/InterLight-regular.fntdata"/><Relationship Id="rId28" Type="http://schemas.openxmlformats.org/officeDocument/2006/relationships/font" Target="fonts/InterLight-boldItalic.fntdata"/><Relationship Id="rId27" Type="http://schemas.openxmlformats.org/officeDocument/2006/relationships/font" Target="fonts/Inter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6.xml"/><Relationship Id="rId33" Type="http://schemas.openxmlformats.org/officeDocument/2006/relationships/font" Target="fonts/InterMedium-regular.fntdata"/><Relationship Id="rId10" Type="http://schemas.openxmlformats.org/officeDocument/2006/relationships/slide" Target="slides/slide5.xml"/><Relationship Id="rId32" Type="http://schemas.openxmlformats.org/officeDocument/2006/relationships/font" Target="fonts/Inter-boldItalic.fntdata"/><Relationship Id="rId13" Type="http://schemas.openxmlformats.org/officeDocument/2006/relationships/slide" Target="slides/slide8.xml"/><Relationship Id="rId35" Type="http://schemas.openxmlformats.org/officeDocument/2006/relationships/font" Target="fonts/InterMedium-italic.fntdata"/><Relationship Id="rId12" Type="http://schemas.openxmlformats.org/officeDocument/2006/relationships/slide" Target="slides/slide7.xml"/><Relationship Id="rId34" Type="http://schemas.openxmlformats.org/officeDocument/2006/relationships/font" Target="fonts/InterMedium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InterMedium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d4de891db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d4de891db3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4de891db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d4de891db3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4de891db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d4de891db3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4de891db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d4de891db3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4de891db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d4de891db3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95bc702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e95bc7024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4de891db3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d4de891db3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94116407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e941164076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4de891db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d4de891db3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n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9136050" y="1007975"/>
            <a:ext cx="8131200" cy="8270400"/>
          </a:xfrm>
          <a:prstGeom prst="rect">
            <a:avLst/>
          </a:prstGeom>
          <a:noFill/>
          <a:ln cap="flat" cmpd="sng" w="1905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w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>
            <p:ph idx="2" type="pic"/>
          </p:nvPr>
        </p:nvSpPr>
        <p:spPr>
          <a:xfrm>
            <a:off x="1009200" y="1006800"/>
            <a:ext cx="8154300" cy="4158600"/>
          </a:xfrm>
          <a:prstGeom prst="rect">
            <a:avLst/>
          </a:prstGeom>
          <a:noFill/>
          <a:ln cap="flat" cmpd="sng" w="1905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4"/>
          <p:cNvSpPr/>
          <p:nvPr>
            <p:ph idx="3" type="pic"/>
          </p:nvPr>
        </p:nvSpPr>
        <p:spPr>
          <a:xfrm>
            <a:off x="1009200" y="5165400"/>
            <a:ext cx="8154300" cy="4158600"/>
          </a:xfrm>
          <a:prstGeom prst="rect">
            <a:avLst/>
          </a:prstGeom>
          <a:noFill/>
          <a:ln cap="flat" cmpd="sng" w="1905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2D076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51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4400"/>
              <a:buFont typeface="Inter"/>
              <a:buNone/>
              <a:defRPr i="0" sz="4400" u="none" cap="none" strike="noStrike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Char char="•"/>
              <a:defRPr i="0" sz="3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Char char="–"/>
              <a:defRPr i="0" sz="2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Char char="•"/>
              <a:defRPr i="0" sz="2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4.png"/><Relationship Id="rId7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36.png"/><Relationship Id="rId5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hyperlink" Target="https://huggingface.co/spaces/jyunyilin/canadian_marketable_natural_gas_supply_trends" TargetMode="External"/><Relationship Id="rId5" Type="http://schemas.openxmlformats.org/officeDocument/2006/relationships/image" Target="../media/image16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27.png"/><Relationship Id="rId13" Type="http://schemas.openxmlformats.org/officeDocument/2006/relationships/image" Target="../media/image29.png"/><Relationship Id="rId1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35.png"/><Relationship Id="rId9" Type="http://schemas.openxmlformats.org/officeDocument/2006/relationships/image" Target="../media/image22.png"/><Relationship Id="rId15" Type="http://schemas.openxmlformats.org/officeDocument/2006/relationships/hyperlink" Target="https://github.com/JYUN-YI/canadian-marketable-natural-gas-supply-trends.git" TargetMode="External"/><Relationship Id="rId14" Type="http://schemas.openxmlformats.org/officeDocument/2006/relationships/image" Target="../media/image41.png"/><Relationship Id="rId17" Type="http://schemas.openxmlformats.org/officeDocument/2006/relationships/hyperlink" Target="https://github.com/JYUN-YI/canadian-marketable-natural-gas-supply-trends.git" TargetMode="External"/><Relationship Id="rId16" Type="http://schemas.openxmlformats.org/officeDocument/2006/relationships/image" Target="../media/image43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18" Type="http://schemas.openxmlformats.org/officeDocument/2006/relationships/image" Target="../media/image44.png"/><Relationship Id="rId7" Type="http://schemas.openxmlformats.org/officeDocument/2006/relationships/image" Target="../media/image38.png"/><Relationship Id="rId8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514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6"/>
          <p:cNvCxnSpPr/>
          <p:nvPr/>
        </p:nvCxnSpPr>
        <p:spPr>
          <a:xfrm>
            <a:off x="1028700" y="9258300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6"/>
          <p:cNvSpPr txBox="1"/>
          <p:nvPr/>
        </p:nvSpPr>
        <p:spPr>
          <a:xfrm>
            <a:off x="1028700" y="4079250"/>
            <a:ext cx="99423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0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Canadian Natural Gas</a:t>
            </a:r>
            <a:r>
              <a:rPr lang="en-US" sz="60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60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Production Trends &amp; </a:t>
            </a:r>
            <a:endParaRPr sz="6000">
              <a:solidFill>
                <a:srgbClr val="C2D076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0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Upstream Capacity</a:t>
            </a:r>
            <a:endParaRPr sz="6000">
              <a:solidFill>
                <a:srgbClr val="C2D076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7" name="Google Shape;27;p6"/>
          <p:cNvSpPr txBox="1"/>
          <p:nvPr/>
        </p:nvSpPr>
        <p:spPr>
          <a:xfrm>
            <a:off x="15888175" y="424225"/>
            <a:ext cx="137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/20</a:t>
            </a: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2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>
              <a:solidFill>
                <a:srgbClr val="C2D076"/>
              </a:solidFill>
            </a:endParaRPr>
          </a:p>
        </p:txBody>
      </p:sp>
      <p:sp>
        <p:nvSpPr>
          <p:cNvPr id="28" name="Google Shape;28;p6"/>
          <p:cNvSpPr txBox="1"/>
          <p:nvPr/>
        </p:nvSpPr>
        <p:spPr>
          <a:xfrm>
            <a:off x="11536477" y="8041652"/>
            <a:ext cx="1094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Kimberly Lin &amp; Ryan A. Mardani</a:t>
            </a:r>
            <a:endParaRPr sz="3000">
              <a:solidFill>
                <a:srgbClr val="C2D076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9" name="Google Shape;29;p6" title="c2d076_SPE.png"/>
          <p:cNvPicPr preferRelativeResize="0"/>
          <p:nvPr/>
        </p:nvPicPr>
        <p:blipFill rotWithShape="1">
          <a:blip r:embed="rId3">
            <a:alphaModFix/>
          </a:blip>
          <a:srcRect b="3410" l="0" r="0" t="3419"/>
          <a:stretch/>
        </p:blipFill>
        <p:spPr>
          <a:xfrm>
            <a:off x="0" y="0"/>
            <a:ext cx="4094201" cy="204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51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/>
        </p:nvSpPr>
        <p:spPr>
          <a:xfrm>
            <a:off x="9436605" y="2056367"/>
            <a:ext cx="6723600" cy="6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762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3900"/>
              <a:buFont typeface="Inter"/>
              <a:buChar char="-"/>
            </a:pPr>
            <a:r>
              <a:rPr lang="en-US" sz="39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Business Problem</a:t>
            </a:r>
            <a:endParaRPr sz="39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762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3900"/>
              <a:buFont typeface="Inter"/>
              <a:buChar char="-"/>
            </a:pPr>
            <a:r>
              <a:rPr lang="en-US" sz="39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Exploratory Data Analysis</a:t>
            </a:r>
            <a:endParaRPr sz="39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762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3900"/>
              <a:buFont typeface="Inter"/>
              <a:buChar char="-"/>
            </a:pPr>
            <a:r>
              <a:rPr lang="en-US" sz="39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Forecast Approach</a:t>
            </a:r>
            <a:endParaRPr sz="39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762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3900"/>
              <a:buFont typeface="Inter"/>
              <a:buChar char="-"/>
            </a:pPr>
            <a:r>
              <a:rPr lang="en-US" sz="39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Strategic Implications</a:t>
            </a:r>
            <a:endParaRPr sz="39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762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3900"/>
              <a:buFont typeface="Inter"/>
              <a:buChar char="-"/>
            </a:pPr>
            <a:r>
              <a:rPr lang="en-US" sz="39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Dashboard Demo</a:t>
            </a:r>
            <a:endParaRPr sz="39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762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3900"/>
              <a:buFont typeface="Inter"/>
              <a:buChar char="-"/>
            </a:pPr>
            <a:r>
              <a:rPr lang="en-US" sz="39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Future Work</a:t>
            </a:r>
            <a:endParaRPr sz="39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7625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3900"/>
              <a:buFont typeface="Inter"/>
              <a:buChar char="-"/>
            </a:pPr>
            <a:r>
              <a:rPr lang="en-US" sz="39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Tech Stack</a:t>
            </a:r>
            <a:endParaRPr sz="39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" name="Google Shape;35;p7"/>
          <p:cNvSpPr txBox="1"/>
          <p:nvPr/>
        </p:nvSpPr>
        <p:spPr>
          <a:xfrm>
            <a:off x="15888175" y="424225"/>
            <a:ext cx="137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/202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>
              <a:solidFill>
                <a:srgbClr val="C2D076"/>
              </a:solidFill>
            </a:endParaRPr>
          </a:p>
        </p:txBody>
      </p:sp>
      <p:pic>
        <p:nvPicPr>
          <p:cNvPr id="36" name="Google Shape;36;p7" title="c2d076_SPE.png"/>
          <p:cNvPicPr preferRelativeResize="0"/>
          <p:nvPr/>
        </p:nvPicPr>
        <p:blipFill rotWithShape="1">
          <a:blip r:embed="rId3">
            <a:alphaModFix/>
          </a:blip>
          <a:srcRect b="3410" l="0" r="0" t="3419"/>
          <a:stretch/>
        </p:blipFill>
        <p:spPr>
          <a:xfrm>
            <a:off x="14193800" y="8239900"/>
            <a:ext cx="4094201" cy="204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"/>
          <p:cNvSpPr txBox="1"/>
          <p:nvPr/>
        </p:nvSpPr>
        <p:spPr>
          <a:xfrm>
            <a:off x="1033272" y="4636008"/>
            <a:ext cx="97980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Agenda</a:t>
            </a:r>
            <a:endParaRPr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D076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/>
        </p:nvSpPr>
        <p:spPr>
          <a:xfrm>
            <a:off x="1028700" y="4636450"/>
            <a:ext cx="97980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Business Problem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" name="Google Shape;43;p8"/>
          <p:cNvSpPr txBox="1"/>
          <p:nvPr/>
        </p:nvSpPr>
        <p:spPr>
          <a:xfrm>
            <a:off x="15888175" y="424225"/>
            <a:ext cx="137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b="1" lang="en-US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r>
              <a:rPr b="1" i="0" lang="en-US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/202</a:t>
            </a:r>
            <a:r>
              <a:rPr b="1" lang="en-US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4" name="Google Shape;44;p8" title="black_SPE.png"/>
          <p:cNvPicPr preferRelativeResize="0"/>
          <p:nvPr/>
        </p:nvPicPr>
        <p:blipFill rotWithShape="1">
          <a:blip r:embed="rId3">
            <a:alphaModFix/>
          </a:blip>
          <a:srcRect b="0" l="70" r="70" t="0"/>
          <a:stretch/>
        </p:blipFill>
        <p:spPr>
          <a:xfrm>
            <a:off x="0" y="0"/>
            <a:ext cx="4096512" cy="2048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514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/>
        </p:nvSpPr>
        <p:spPr>
          <a:xfrm>
            <a:off x="759131" y="2094653"/>
            <a:ext cx="126324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1. </a:t>
            </a:r>
            <a:r>
              <a:rPr lang="en-US" sz="40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How has Canadian natural gas production evolved over the past 20+ years?</a:t>
            </a:r>
            <a:endParaRPr sz="40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2. What structural regime shifts in production can be linked to major global events?</a:t>
            </a:r>
            <a:endParaRPr sz="40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0" name="Google Shape;50;p9"/>
          <p:cNvSpPr txBox="1"/>
          <p:nvPr/>
        </p:nvSpPr>
        <p:spPr>
          <a:xfrm>
            <a:off x="15888175" y="424225"/>
            <a:ext cx="137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/202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>
              <a:solidFill>
                <a:srgbClr val="C2D076"/>
              </a:solidFill>
            </a:endParaRPr>
          </a:p>
        </p:txBody>
      </p:sp>
      <p:sp>
        <p:nvSpPr>
          <p:cNvPr id="51" name="Google Shape;51;p9"/>
          <p:cNvSpPr txBox="1"/>
          <p:nvPr/>
        </p:nvSpPr>
        <p:spPr>
          <a:xfrm>
            <a:off x="4530097" y="5580803"/>
            <a:ext cx="126324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3. Is current production growth sufficient to support LNG Canada Phase 1 demand?</a:t>
            </a:r>
            <a:endParaRPr sz="4000">
              <a:solidFill>
                <a:srgbClr val="C2D076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4. Will future production (2026–2030) create surplus or a risk of shortage?</a:t>
            </a:r>
            <a:endParaRPr sz="4000">
              <a:solidFill>
                <a:srgbClr val="C2D076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52" name="Google Shape;52;p9" title="c2d076_SPE.png"/>
          <p:cNvPicPr preferRelativeResize="0"/>
          <p:nvPr/>
        </p:nvPicPr>
        <p:blipFill rotWithShape="1">
          <a:blip r:embed="rId3">
            <a:alphaModFix/>
          </a:blip>
          <a:srcRect b="3410" l="0" r="0" t="3419"/>
          <a:stretch/>
        </p:blipFill>
        <p:spPr>
          <a:xfrm>
            <a:off x="0" y="8239900"/>
            <a:ext cx="4094201" cy="204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D076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/>
        </p:nvSpPr>
        <p:spPr>
          <a:xfrm>
            <a:off x="1028700" y="3240899"/>
            <a:ext cx="6718200" cy="40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Exploratory Data Analysis </a:t>
            </a:r>
            <a:endParaRPr sz="8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10"/>
          <p:cNvSpPr txBox="1"/>
          <p:nvPr/>
        </p:nvSpPr>
        <p:spPr>
          <a:xfrm>
            <a:off x="15888175" y="424225"/>
            <a:ext cx="137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b="1" lang="en-US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r>
              <a:rPr b="1" i="0" lang="en-US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/202</a:t>
            </a:r>
            <a:r>
              <a:rPr b="1" lang="en-US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9" name="Google Shape;59;p10" title="black_SPE.png"/>
          <p:cNvPicPr preferRelativeResize="0"/>
          <p:nvPr/>
        </p:nvPicPr>
        <p:blipFill rotWithShape="1">
          <a:blip r:embed="rId3">
            <a:alphaModFix/>
          </a:blip>
          <a:srcRect b="0" l="70" r="70" t="0"/>
          <a:stretch/>
        </p:blipFill>
        <p:spPr>
          <a:xfrm>
            <a:off x="14191500" y="8238750"/>
            <a:ext cx="4096512" cy="2048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514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/>
        </p:nvSpPr>
        <p:spPr>
          <a:xfrm>
            <a:off x="15888175" y="424225"/>
            <a:ext cx="137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/202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>
              <a:solidFill>
                <a:srgbClr val="C2D076"/>
              </a:solidFill>
            </a:endParaRPr>
          </a:p>
        </p:txBody>
      </p:sp>
      <p:pic>
        <p:nvPicPr>
          <p:cNvPr id="65" name="Google Shape;65;p11" title="Monthly vs Annual Average Gas Produ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4415" y="2631710"/>
            <a:ext cx="12034751" cy="5689375"/>
          </a:xfrm>
          <a:prstGeom prst="rect">
            <a:avLst/>
          </a:prstGeom>
          <a:noFill/>
          <a:ln cap="flat" cmpd="sng" w="3810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" name="Google Shape;66;p11" title="c2d076_SPE.png"/>
          <p:cNvPicPr preferRelativeResize="0"/>
          <p:nvPr/>
        </p:nvPicPr>
        <p:blipFill rotWithShape="1">
          <a:blip r:embed="rId4">
            <a:alphaModFix/>
          </a:blip>
          <a:srcRect b="3410" l="0" r="0" t="3419"/>
          <a:stretch/>
        </p:blipFill>
        <p:spPr>
          <a:xfrm>
            <a:off x="0" y="8239900"/>
            <a:ext cx="4094201" cy="20471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1"/>
          <p:cNvSpPr txBox="1"/>
          <p:nvPr/>
        </p:nvSpPr>
        <p:spPr>
          <a:xfrm>
            <a:off x="504250" y="2659725"/>
            <a:ext cx="4740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2D076"/>
                </a:solidFill>
                <a:latin typeface="Inter Light"/>
                <a:ea typeface="Inter Light"/>
                <a:cs typeface="Inter Light"/>
                <a:sym typeface="Inter Light"/>
              </a:rPr>
              <a:t>Compare monthly data with annual averages to capture both short-term volatility and long-term direction.</a:t>
            </a:r>
            <a:endParaRPr sz="2400">
              <a:solidFill>
                <a:srgbClr val="C2D076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514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/>
          <p:nvPr/>
        </p:nvSpPr>
        <p:spPr>
          <a:xfrm>
            <a:off x="15888175" y="424225"/>
            <a:ext cx="137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/202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>
              <a:solidFill>
                <a:srgbClr val="C2D076"/>
              </a:solidFill>
            </a:endParaRPr>
          </a:p>
        </p:txBody>
      </p:sp>
      <p:pic>
        <p:nvPicPr>
          <p:cNvPr id="73" name="Google Shape;73;p12" title="c2d076_SPE.png"/>
          <p:cNvPicPr preferRelativeResize="0"/>
          <p:nvPr/>
        </p:nvPicPr>
        <p:blipFill rotWithShape="1">
          <a:blip r:embed="rId3">
            <a:alphaModFix/>
          </a:blip>
          <a:srcRect b="3410" l="0" r="0" t="3419"/>
          <a:stretch/>
        </p:blipFill>
        <p:spPr>
          <a:xfrm>
            <a:off x="14193800" y="8239890"/>
            <a:ext cx="4094201" cy="20471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2"/>
          <p:cNvSpPr txBox="1"/>
          <p:nvPr/>
        </p:nvSpPr>
        <p:spPr>
          <a:xfrm>
            <a:off x="13082877" y="2663917"/>
            <a:ext cx="474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2D076"/>
                </a:solidFill>
                <a:latin typeface="Inter Light"/>
                <a:ea typeface="Inter Light"/>
                <a:cs typeface="Inter Light"/>
                <a:sym typeface="Inter Light"/>
              </a:rPr>
              <a:t>Analyze year-over-year growth and classify each year into three regimes using a ±3% threshold.</a:t>
            </a:r>
            <a:endParaRPr sz="2400">
              <a:solidFill>
                <a:srgbClr val="C2D076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75" name="Google Shape;75;p12" title="Year-over-Year Growth with Regime Classific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741" y="2691918"/>
            <a:ext cx="12033503" cy="5687568"/>
          </a:xfrm>
          <a:prstGeom prst="rect">
            <a:avLst/>
          </a:prstGeom>
          <a:noFill/>
          <a:ln cap="flat" cmpd="sng" w="3810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514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/>
        </p:nvSpPr>
        <p:spPr>
          <a:xfrm>
            <a:off x="15888175" y="424225"/>
            <a:ext cx="137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/202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>
              <a:solidFill>
                <a:srgbClr val="C2D076"/>
              </a:solidFill>
            </a:endParaRPr>
          </a:p>
        </p:txBody>
      </p:sp>
      <p:pic>
        <p:nvPicPr>
          <p:cNvPr id="81" name="Google Shape;81;p13" title="c2d076_SPE.png"/>
          <p:cNvPicPr preferRelativeResize="0"/>
          <p:nvPr/>
        </p:nvPicPr>
        <p:blipFill rotWithShape="1">
          <a:blip r:embed="rId3">
            <a:alphaModFix/>
          </a:blip>
          <a:srcRect b="3410" l="0" r="0" t="3419"/>
          <a:stretch/>
        </p:blipFill>
        <p:spPr>
          <a:xfrm>
            <a:off x="0" y="8239900"/>
            <a:ext cx="4094201" cy="20471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3"/>
          <p:cNvSpPr txBox="1"/>
          <p:nvPr/>
        </p:nvSpPr>
        <p:spPr>
          <a:xfrm>
            <a:off x="504250" y="2659725"/>
            <a:ext cx="4740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solidFill>
                  <a:srgbClr val="C2D076"/>
                </a:solidFill>
                <a:latin typeface="Inter Light"/>
                <a:ea typeface="Inter Light"/>
                <a:cs typeface="Inter Light"/>
                <a:sym typeface="Inter Light"/>
              </a:rPr>
              <a:t>Identify structural shifts and change-points, and align them with major global events such as the 2008 Global Financial Crisis, the COVID-19 pandemic, etc.</a:t>
            </a:r>
            <a:endParaRPr sz="2400">
              <a:solidFill>
                <a:srgbClr val="C2D076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83" name="Google Shape;83;p13" title="Canada Marketable Gas Production Raw Data, Rolling Trend, Regimes &amp; Structural Change-point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8294" y="2659725"/>
            <a:ext cx="12033503" cy="5687568"/>
          </a:xfrm>
          <a:prstGeom prst="rect">
            <a:avLst/>
          </a:prstGeom>
          <a:noFill/>
          <a:ln cap="flat" cmpd="sng" w="3810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514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/>
        </p:nvSpPr>
        <p:spPr>
          <a:xfrm>
            <a:off x="15888175" y="424225"/>
            <a:ext cx="137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/202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>
              <a:solidFill>
                <a:srgbClr val="C2D076"/>
              </a:solidFill>
            </a:endParaRPr>
          </a:p>
        </p:txBody>
      </p:sp>
      <p:pic>
        <p:nvPicPr>
          <p:cNvPr id="89" name="Google Shape;89;p14" title="c2d076_SPE.png"/>
          <p:cNvPicPr preferRelativeResize="0"/>
          <p:nvPr/>
        </p:nvPicPr>
        <p:blipFill rotWithShape="1">
          <a:blip r:embed="rId3">
            <a:alphaModFix/>
          </a:blip>
          <a:srcRect b="3410" l="0" r="0" t="3419"/>
          <a:stretch/>
        </p:blipFill>
        <p:spPr>
          <a:xfrm>
            <a:off x="0" y="-10"/>
            <a:ext cx="4094201" cy="20471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9138401" y="3209100"/>
            <a:ext cx="8908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C2D076"/>
                </a:solidFill>
                <a:latin typeface="Comic Sans MS"/>
                <a:ea typeface="Comic Sans MS"/>
                <a:cs typeface="Comic Sans MS"/>
                <a:sym typeface="Comic Sans MS"/>
              </a:rPr>
              <a:t>|	</a:t>
            </a:r>
            <a:r>
              <a:rPr i="1" lang="en-US" sz="1700">
                <a:solidFill>
                  <a:srgbClr val="C2D076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Production = Domestic Consumption + Exports + Storage Adjustment</a:t>
            </a:r>
            <a:endParaRPr i="1" sz="1700">
              <a:solidFill>
                <a:srgbClr val="C2D07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2D076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2D076"/>
                </a:solidFill>
                <a:latin typeface="Comic Sans MS"/>
                <a:ea typeface="Comic Sans MS"/>
                <a:cs typeface="Comic Sans MS"/>
                <a:sym typeface="Comic Sans MS"/>
              </a:rPr>
              <a:t>|	</a:t>
            </a:r>
            <a:r>
              <a:rPr i="1" lang="en-US" sz="1700">
                <a:solidFill>
                  <a:srgbClr val="C2D076"/>
                </a:solidFill>
                <a:latin typeface="Comic Sans MS"/>
                <a:ea typeface="Comic Sans MS"/>
                <a:cs typeface="Comic Sans MS"/>
                <a:sym typeface="Comic Sans MS"/>
              </a:rPr>
              <a:t>ΔAvailable ≈ ΔProduction − Δ(Domestic + Exports)</a:t>
            </a:r>
            <a:endParaRPr sz="1700">
              <a:solidFill>
                <a:srgbClr val="C2D076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91" name="Google Shape;91;p14" title="Canada Natural Gas Production vs LNG Canada Phase 1 Deman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1001" y="1934538"/>
            <a:ext cx="7749301" cy="3662675"/>
          </a:xfrm>
          <a:prstGeom prst="rect">
            <a:avLst/>
          </a:prstGeom>
          <a:noFill/>
          <a:ln cap="flat" cmpd="sng" w="3810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" name="Google Shape;92;p14"/>
          <p:cNvSpPr txBox="1"/>
          <p:nvPr/>
        </p:nvSpPr>
        <p:spPr>
          <a:xfrm>
            <a:off x="13067189" y="3824846"/>
            <a:ext cx="474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3051500" y="5209893"/>
            <a:ext cx="474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094189" y="8616293"/>
            <a:ext cx="474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2D076"/>
                </a:solidFill>
                <a:latin typeface="Inter Light"/>
                <a:ea typeface="Inter Light"/>
                <a:cs typeface="Inter Light"/>
                <a:sym typeface="Inter Light"/>
              </a:rPr>
              <a:t>Incremental LNG feedgas supply is primarily dependent on sustained production growth.</a:t>
            </a:r>
            <a:endParaRPr sz="2400">
              <a:solidFill>
                <a:srgbClr val="C2D076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95" name="Google Shape;95;p14" title="Canada Gas Production (mtpa) vs Annual Growth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10364" y="6057762"/>
            <a:ext cx="7744969" cy="3666744"/>
          </a:xfrm>
          <a:prstGeom prst="rect">
            <a:avLst/>
          </a:prstGeom>
          <a:noFill/>
          <a:ln cap="flat" cmpd="sng" w="3810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6" name="Google Shape;96;p14"/>
          <p:cNvSpPr txBox="1"/>
          <p:nvPr/>
        </p:nvSpPr>
        <p:spPr>
          <a:xfrm>
            <a:off x="9082360" y="1885700"/>
            <a:ext cx="571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C2D076"/>
                </a:solidFill>
                <a:latin typeface="Inter Light"/>
                <a:ea typeface="Inter Light"/>
                <a:cs typeface="Inter Light"/>
                <a:sym typeface="Inter Light"/>
              </a:rPr>
              <a:t>LNG demand appears small relative to total production.</a:t>
            </a:r>
            <a:endParaRPr sz="24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D076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1028700" y="3715827"/>
            <a:ext cx="52068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Forecast Approach</a:t>
            </a:r>
            <a:endParaRPr sz="8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15888175" y="424225"/>
            <a:ext cx="137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b="1" lang="en-US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r>
              <a:rPr b="1" i="0" lang="en-US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/202</a:t>
            </a:r>
            <a:r>
              <a:rPr b="1" lang="en-US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3" name="Google Shape;103;p15" title="black_SPE.png"/>
          <p:cNvPicPr preferRelativeResize="0"/>
          <p:nvPr/>
        </p:nvPicPr>
        <p:blipFill rotWithShape="1">
          <a:blip r:embed="rId3">
            <a:alphaModFix/>
          </a:blip>
          <a:srcRect b="0" l="70" r="70" t="0"/>
          <a:stretch/>
        </p:blipFill>
        <p:spPr>
          <a:xfrm>
            <a:off x="14191500" y="8238750"/>
            <a:ext cx="4096512" cy="2048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514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/>
        </p:nvSpPr>
        <p:spPr>
          <a:xfrm>
            <a:off x="1028700" y="3367405"/>
            <a:ext cx="69558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Forecasting Objectives </a:t>
            </a:r>
            <a:endParaRPr b="1" sz="48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10301288" y="2660389"/>
            <a:ext cx="6957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Modeling Framework</a:t>
            </a:r>
            <a:endParaRPr b="1" sz="5000"/>
          </a:p>
        </p:txBody>
      </p:sp>
      <p:cxnSp>
        <p:nvCxnSpPr>
          <p:cNvPr id="110" name="Google Shape;110;p16"/>
          <p:cNvCxnSpPr/>
          <p:nvPr/>
        </p:nvCxnSpPr>
        <p:spPr>
          <a:xfrm rot="10800000">
            <a:off x="9144000" y="1028700"/>
            <a:ext cx="0" cy="8229600"/>
          </a:xfrm>
          <a:prstGeom prst="straightConnector1">
            <a:avLst/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16"/>
          <p:cNvSpPr txBox="1"/>
          <p:nvPr/>
        </p:nvSpPr>
        <p:spPr>
          <a:xfrm>
            <a:off x="15888175" y="424225"/>
            <a:ext cx="137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/202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>
              <a:solidFill>
                <a:srgbClr val="C2D076"/>
              </a:solidFill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916648" y="4521575"/>
            <a:ext cx="82275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3200"/>
              <a:buFont typeface="Inter"/>
              <a:buChar char="-"/>
            </a:pPr>
            <a:r>
              <a:rPr lang="en-US" sz="32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Seasonality </a:t>
            </a:r>
            <a:endParaRPr sz="32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(Winter peaks vs Summer troughs)</a:t>
            </a:r>
            <a:endParaRPr sz="32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3200"/>
              <a:buFont typeface="Inter"/>
              <a:buChar char="-"/>
            </a:pPr>
            <a:r>
              <a:rPr lang="en-US" sz="32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Forecast uncertainty</a:t>
            </a:r>
            <a:endParaRPr sz="32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(95% Confidence Intervals)</a:t>
            </a:r>
            <a:endParaRPr sz="32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10226806" y="3681132"/>
            <a:ext cx="82275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3200"/>
              <a:buFont typeface="Inter"/>
              <a:buChar char="-"/>
            </a:pPr>
            <a:r>
              <a:rPr lang="en-US" sz="32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Training period: 2000–2022</a:t>
            </a:r>
            <a:endParaRPr sz="32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3200"/>
              <a:buFont typeface="Inter"/>
              <a:buChar char="-"/>
            </a:pPr>
            <a:r>
              <a:rPr lang="en-US" sz="32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Validation period: 2023–2025</a:t>
            </a:r>
            <a:endParaRPr sz="32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3200"/>
              <a:buFont typeface="Inter"/>
              <a:buChar char="-"/>
            </a:pPr>
            <a:r>
              <a:rPr lang="en-US" sz="32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Re</a:t>
            </a:r>
            <a:r>
              <a:rPr lang="en-US" sz="32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n-US" sz="32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itting period: 2000–2025</a:t>
            </a:r>
            <a:endParaRPr sz="32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3200"/>
              <a:buFont typeface="Inter"/>
              <a:buChar char="-"/>
            </a:pPr>
            <a:r>
              <a:rPr lang="en-US" sz="32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Forecast horizon: 2026–2030 </a:t>
            </a:r>
            <a:endParaRPr sz="32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4" name="Google Shape;114;p16" title="c2d076_SPE.png"/>
          <p:cNvPicPr preferRelativeResize="0"/>
          <p:nvPr/>
        </p:nvPicPr>
        <p:blipFill rotWithShape="1">
          <a:blip r:embed="rId3">
            <a:alphaModFix/>
          </a:blip>
          <a:srcRect b="3410" l="0" r="0" t="3419"/>
          <a:stretch/>
        </p:blipFill>
        <p:spPr>
          <a:xfrm>
            <a:off x="0" y="-10"/>
            <a:ext cx="4094201" cy="204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D076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7" title="c2d076_SPE.png"/>
          <p:cNvPicPr preferRelativeResize="0"/>
          <p:nvPr/>
        </p:nvPicPr>
        <p:blipFill rotWithShape="1">
          <a:blip r:embed="rId3">
            <a:alphaModFix/>
          </a:blip>
          <a:srcRect b="3410" l="0" r="0" t="3419"/>
          <a:stretch/>
        </p:blipFill>
        <p:spPr>
          <a:xfrm>
            <a:off x="14206889" y="8283214"/>
            <a:ext cx="4094201" cy="204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0" y="-26825"/>
            <a:ext cx="18288000" cy="10357200"/>
          </a:xfrm>
          <a:prstGeom prst="rect">
            <a:avLst/>
          </a:prstGeom>
          <a:gradFill>
            <a:gsLst>
              <a:gs pos="0">
                <a:srgbClr val="BFBFBF"/>
              </a:gs>
              <a:gs pos="0">
                <a:srgbClr val="C2D076"/>
              </a:gs>
              <a:gs pos="100000">
                <a:srgbClr val="31341E"/>
              </a:gs>
              <a:gs pos="100000">
                <a:srgbClr val="737373"/>
              </a:gs>
            </a:gsLst>
            <a:lin ang="2700006" scaled="0"/>
          </a:gradFill>
          <a:ln>
            <a:noFill/>
          </a:ln>
          <a:effectLst>
            <a:outerShdw blurRad="57150" rotWithShape="0" algn="bl" dir="5400000" dist="19050">
              <a:srgbClr val="000000">
                <a:alpha val="6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640080" y="1828800"/>
            <a:ext cx="5303400" cy="7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Prophet</a:t>
            </a:r>
            <a:endParaRPr sz="4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Char char="-"/>
            </a:pPr>
            <a:r>
              <a:rPr lang="en-US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Seasonal statistical forecasting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Char char="-"/>
            </a:pPr>
            <a:r>
              <a:rPr lang="en-US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Stable monthly production modeling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Char char="-"/>
            </a:pPr>
            <a:r>
              <a:rPr lang="en-US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Strong baseline interpretability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15888175" y="424225"/>
            <a:ext cx="137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b="1" lang="en-US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r>
              <a:rPr b="1" i="0" lang="en-US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/202</a:t>
            </a:r>
            <a:r>
              <a:rPr b="1" lang="en-US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6263640" y="1828800"/>
            <a:ext cx="5303400" cy="7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SARIMA</a:t>
            </a:r>
            <a:endParaRPr sz="4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Char char="-"/>
            </a:pPr>
            <a:r>
              <a:rPr lang="en-US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Flexible trend forecasting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Char char="-"/>
            </a:pPr>
            <a:r>
              <a:rPr lang="en-US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Handles long-term seasonal behavior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Char char="-"/>
            </a:pPr>
            <a:r>
              <a:rPr lang="en-US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Supports uncertainty analysis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11887200" y="1828800"/>
            <a:ext cx="5303400" cy="7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Model Selection Rationale</a:t>
            </a:r>
            <a:endParaRPr sz="4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Char char="-"/>
            </a:pPr>
            <a:r>
              <a:rPr lang="en-US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Persistent seasonal production patterns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Char char="-"/>
            </a:pPr>
            <a:r>
              <a:rPr lang="en-US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Medium-term supply adequacy focus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Char char="-"/>
            </a:pPr>
            <a:r>
              <a:rPr lang="en-US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Interpretable forecasting methods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Char char="-"/>
            </a:pPr>
            <a:r>
              <a:rPr lang="en-US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Dual-model robustness comparison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25" name="Google Shape;125;p17"/>
          <p:cNvCxnSpPr/>
          <p:nvPr/>
        </p:nvCxnSpPr>
        <p:spPr>
          <a:xfrm rot="10800000">
            <a:off x="6101589" y="1463040"/>
            <a:ext cx="0" cy="822960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17"/>
          <p:cNvCxnSpPr/>
          <p:nvPr/>
        </p:nvCxnSpPr>
        <p:spPr>
          <a:xfrm rot="10800000">
            <a:off x="11722608" y="1463040"/>
            <a:ext cx="0" cy="822960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7" name="Google Shape;127;p17" title="black_SPE.png"/>
          <p:cNvPicPr preferRelativeResize="0"/>
          <p:nvPr/>
        </p:nvPicPr>
        <p:blipFill rotWithShape="1">
          <a:blip r:embed="rId4">
            <a:alphaModFix/>
          </a:blip>
          <a:srcRect b="0" l="70" r="70" t="0"/>
          <a:stretch/>
        </p:blipFill>
        <p:spPr>
          <a:xfrm>
            <a:off x="0" y="8282647"/>
            <a:ext cx="4096512" cy="2048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514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8"/>
          <p:cNvGrpSpPr/>
          <p:nvPr/>
        </p:nvGrpSpPr>
        <p:grpSpPr>
          <a:xfrm>
            <a:off x="9144000" y="-108496"/>
            <a:ext cx="9144059" cy="10395563"/>
            <a:chOff x="0" y="-28575"/>
            <a:chExt cx="2408296" cy="2737908"/>
          </a:xfrm>
        </p:grpSpPr>
        <p:sp>
          <p:nvSpPr>
            <p:cNvPr id="133" name="Google Shape;133;p1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2D076"/>
            </a:solidFill>
            <a:ln>
              <a:noFill/>
            </a:ln>
          </p:spPr>
        </p:sp>
        <p:sp>
          <p:nvSpPr>
            <p:cNvPr id="134" name="Google Shape;134;p18"/>
            <p:cNvSpPr txBox="1"/>
            <p:nvPr/>
          </p:nvSpPr>
          <p:spPr>
            <a:xfrm>
              <a:off x="0" y="-28575"/>
              <a:ext cx="2408296" cy="273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5" name="Google Shape;135;p18" title="black_SPE.png"/>
          <p:cNvPicPr preferRelativeResize="0"/>
          <p:nvPr/>
        </p:nvPicPr>
        <p:blipFill rotWithShape="1">
          <a:blip r:embed="rId3">
            <a:alphaModFix/>
          </a:blip>
          <a:srcRect b="0" l="70" r="70" t="0"/>
          <a:stretch/>
        </p:blipFill>
        <p:spPr>
          <a:xfrm>
            <a:off x="14109602" y="8239900"/>
            <a:ext cx="4094202" cy="204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/>
        </p:nvSpPr>
        <p:spPr>
          <a:xfrm>
            <a:off x="1028700" y="995242"/>
            <a:ext cx="70866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Prophet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10340789" y="995246"/>
            <a:ext cx="70866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SARIMA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15888175" y="424225"/>
            <a:ext cx="137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b="1" lang="en-US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r>
              <a:rPr b="1" i="0" lang="en-US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/202</a:t>
            </a:r>
            <a:r>
              <a:rPr b="1" lang="en-US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9" name="Google Shape;139;p18" title="Prophet Monthly Forecast 2026–2030 with Historical Dat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1375" y="1825163"/>
            <a:ext cx="7101244" cy="3845926"/>
          </a:xfrm>
          <a:prstGeom prst="rect">
            <a:avLst/>
          </a:prstGeom>
          <a:noFill/>
          <a:ln cap="flat" cmpd="sng" w="3810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0" name="Google Shape;140;p18" title="Prophet Monthly Forecast 2026–203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9550" y="5895325"/>
            <a:ext cx="7104888" cy="3849625"/>
          </a:xfrm>
          <a:prstGeom prst="rect">
            <a:avLst/>
          </a:prstGeom>
          <a:noFill/>
          <a:ln cap="flat" cmpd="sng" w="3810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1" name="Google Shape;141;p18" title="SARIMA Monthly Forecast 2026–2030 with Historical Dat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31650" y="1851325"/>
            <a:ext cx="7104888" cy="3849625"/>
          </a:xfrm>
          <a:prstGeom prst="rect">
            <a:avLst/>
          </a:prstGeom>
          <a:noFill/>
          <a:ln cap="flat" cmpd="sng" w="38100">
            <a:solidFill>
              <a:srgbClr val="00151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2" name="Google Shape;142;p18" title="SARIMA Monthly Forecast 2026–2030.png"/>
          <p:cNvPicPr preferRelativeResize="0"/>
          <p:nvPr/>
        </p:nvPicPr>
        <p:blipFill rotWithShape="1">
          <a:blip r:embed="rId7">
            <a:alphaModFix/>
          </a:blip>
          <a:srcRect b="0" l="-390" r="390" t="0"/>
          <a:stretch/>
        </p:blipFill>
        <p:spPr>
          <a:xfrm>
            <a:off x="10331653" y="5867317"/>
            <a:ext cx="7104888" cy="3849625"/>
          </a:xfrm>
          <a:prstGeom prst="rect">
            <a:avLst/>
          </a:prstGeom>
          <a:noFill/>
          <a:ln cap="flat" cmpd="sng" w="38100">
            <a:solidFill>
              <a:srgbClr val="00151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514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/>
        </p:nvSpPr>
        <p:spPr>
          <a:xfrm>
            <a:off x="1364886" y="1679890"/>
            <a:ext cx="6955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Incremental Supply Projection</a:t>
            </a:r>
            <a:endParaRPr b="1" sz="37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8" name="Google Shape;148;p19"/>
          <p:cNvCxnSpPr/>
          <p:nvPr/>
        </p:nvCxnSpPr>
        <p:spPr>
          <a:xfrm rot="10800000">
            <a:off x="9144000" y="1028700"/>
            <a:ext cx="0" cy="8229600"/>
          </a:xfrm>
          <a:prstGeom prst="straightConnector1">
            <a:avLst/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19"/>
          <p:cNvSpPr txBox="1"/>
          <p:nvPr/>
        </p:nvSpPr>
        <p:spPr>
          <a:xfrm>
            <a:off x="15888175" y="424225"/>
            <a:ext cx="137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/202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>
              <a:solidFill>
                <a:srgbClr val="C2D076"/>
              </a:solidFill>
            </a:endParaRPr>
          </a:p>
        </p:txBody>
      </p:sp>
      <p:pic>
        <p:nvPicPr>
          <p:cNvPr id="150" name="Google Shape;150;p19" title="c2d076_SPE.png"/>
          <p:cNvPicPr preferRelativeResize="0"/>
          <p:nvPr/>
        </p:nvPicPr>
        <p:blipFill rotWithShape="1">
          <a:blip r:embed="rId3">
            <a:alphaModFix/>
          </a:blip>
          <a:srcRect b="3410" l="0" r="0" t="3419"/>
          <a:stretch/>
        </p:blipFill>
        <p:spPr>
          <a:xfrm>
            <a:off x="0" y="8239890"/>
            <a:ext cx="4094201" cy="204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9725582" y="1692212"/>
            <a:ext cx="79293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70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Supply Gap &amp; Structural Tightness</a:t>
            </a:r>
            <a:endParaRPr b="1" sz="370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2" name="Google Shape;152;p19" title="Incremental Gas Supply vs LNG Canada Phase 1 Requirement (Baseline 2025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671" y="2861649"/>
            <a:ext cx="8020050" cy="5210175"/>
          </a:xfrm>
          <a:prstGeom prst="rect">
            <a:avLst/>
          </a:prstGeom>
          <a:noFill/>
          <a:ln cap="flat" cmpd="sng" w="3810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3" name="Google Shape;153;p19" title="Structural Supply Gap and Balance Timing (2026–2030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42104" y="2861662"/>
            <a:ext cx="8124825" cy="5210175"/>
          </a:xfrm>
          <a:prstGeom prst="rect">
            <a:avLst/>
          </a:prstGeom>
          <a:noFill/>
          <a:ln cap="flat" cmpd="sng" w="3810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D076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/>
        </p:nvSpPr>
        <p:spPr>
          <a:xfrm>
            <a:off x="1028700" y="3775524"/>
            <a:ext cx="68865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Strategic Implications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15888175" y="424225"/>
            <a:ext cx="137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b="1" lang="en-US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r>
              <a:rPr b="1" i="0" lang="en-US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/202</a:t>
            </a:r>
            <a:r>
              <a:rPr b="1" lang="en-US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0" name="Google Shape;160;p20" title="black_SPE.png"/>
          <p:cNvPicPr preferRelativeResize="0"/>
          <p:nvPr/>
        </p:nvPicPr>
        <p:blipFill rotWithShape="1">
          <a:blip r:embed="rId3">
            <a:alphaModFix/>
          </a:blip>
          <a:srcRect b="0" l="70" r="70" t="0"/>
          <a:stretch/>
        </p:blipFill>
        <p:spPr>
          <a:xfrm>
            <a:off x="0" y="-17340"/>
            <a:ext cx="4096512" cy="204825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9439812" y="3028550"/>
            <a:ext cx="7122600" cy="12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33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9"/>
              <a:buFont typeface="Inter"/>
              <a:buChar char="-"/>
            </a:pPr>
            <a:r>
              <a:rPr lang="en-US" sz="2799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Canada’s upstream gas </a:t>
            </a:r>
            <a:r>
              <a:rPr lang="en-US" sz="2799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supply</a:t>
            </a:r>
            <a:r>
              <a:rPr lang="en-US" sz="2799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appears sufficient to support  LNG Canada Phase 1 in the medium term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9439804" y="4667500"/>
            <a:ext cx="7122600" cy="12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33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9"/>
              <a:buFont typeface="Inter"/>
              <a:buChar char="-"/>
            </a:pPr>
            <a:r>
              <a:rPr lang="en-US" sz="2799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Near-term supply tightness is expected before market balance improves around 2030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9439812" y="6306450"/>
            <a:ext cx="71226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33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9"/>
              <a:buFont typeface="Inter"/>
              <a:buChar char="-"/>
            </a:pPr>
            <a:r>
              <a:rPr lang="en-US" sz="2799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Findings are based on unconstrained upstream production potential and exclude infrastructure and market constraints, e.g. Western Canadian Sedimentary Basin (WCSB)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514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1" title="c2d076_SPE.png"/>
          <p:cNvPicPr preferRelativeResize="0"/>
          <p:nvPr/>
        </p:nvPicPr>
        <p:blipFill rotWithShape="1">
          <a:blip r:embed="rId3">
            <a:alphaModFix/>
          </a:blip>
          <a:srcRect b="3410" l="0" r="0" t="3419"/>
          <a:stretch/>
        </p:blipFill>
        <p:spPr>
          <a:xfrm>
            <a:off x="0" y="8239890"/>
            <a:ext cx="4094201" cy="204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 txBox="1"/>
          <p:nvPr/>
        </p:nvSpPr>
        <p:spPr>
          <a:xfrm>
            <a:off x="3377480" y="1642941"/>
            <a:ext cx="11532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u="sng">
                <a:solidFill>
                  <a:schemeClr val="hlink"/>
                </a:solidFill>
                <a:hlinkClick r:id="rId4"/>
              </a:rPr>
              <a:t>Canadian Marketable Natural Gas Supply Trends - a Hugging Face Space by jyunyilin</a:t>
            </a:r>
            <a:endParaRPr sz="2300"/>
          </a:p>
        </p:txBody>
      </p:sp>
      <p:sp>
        <p:nvSpPr>
          <p:cNvPr id="170" name="Google Shape;170;p21"/>
          <p:cNvSpPr txBox="1"/>
          <p:nvPr/>
        </p:nvSpPr>
        <p:spPr>
          <a:xfrm>
            <a:off x="1996153" y="759850"/>
            <a:ext cx="142020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Dashboard Demo</a:t>
            </a:r>
            <a:endParaRPr/>
          </a:p>
        </p:txBody>
      </p:sp>
      <p:grpSp>
        <p:nvGrpSpPr>
          <p:cNvPr id="171" name="Google Shape;171;p21"/>
          <p:cNvGrpSpPr/>
          <p:nvPr/>
        </p:nvGrpSpPr>
        <p:grpSpPr>
          <a:xfrm>
            <a:off x="605232" y="2317335"/>
            <a:ext cx="17138020" cy="7107520"/>
            <a:chOff x="0" y="-28575"/>
            <a:chExt cx="1658700" cy="687900"/>
          </a:xfrm>
        </p:grpSpPr>
        <p:sp>
          <p:nvSpPr>
            <p:cNvPr id="172" name="Google Shape;172;p21"/>
            <p:cNvSpPr/>
            <p:nvPr/>
          </p:nvSpPr>
          <p:spPr>
            <a:xfrm>
              <a:off x="0" y="0"/>
              <a:ext cx="1658589" cy="659257"/>
            </a:xfrm>
            <a:custGeom>
              <a:rect b="b" l="l" r="r" t="t"/>
              <a:pathLst>
                <a:path extrusionOk="0" h="659257" w="1658589">
                  <a:moveTo>
                    <a:pt x="29505" y="0"/>
                  </a:moveTo>
                  <a:lnTo>
                    <a:pt x="1629084" y="0"/>
                  </a:lnTo>
                  <a:cubicBezTo>
                    <a:pt x="1636910" y="0"/>
                    <a:pt x="1644414" y="3109"/>
                    <a:pt x="1649948" y="8642"/>
                  </a:cubicBezTo>
                  <a:cubicBezTo>
                    <a:pt x="1655481" y="14175"/>
                    <a:pt x="1658589" y="21680"/>
                    <a:pt x="1658589" y="29505"/>
                  </a:cubicBezTo>
                  <a:lnTo>
                    <a:pt x="1658589" y="629752"/>
                  </a:lnTo>
                  <a:cubicBezTo>
                    <a:pt x="1658589" y="637577"/>
                    <a:pt x="1655481" y="645082"/>
                    <a:pt x="1649948" y="650615"/>
                  </a:cubicBezTo>
                  <a:cubicBezTo>
                    <a:pt x="1644414" y="656149"/>
                    <a:pt x="1636910" y="659257"/>
                    <a:pt x="1629084" y="659257"/>
                  </a:cubicBezTo>
                  <a:lnTo>
                    <a:pt x="29505" y="659257"/>
                  </a:lnTo>
                  <a:cubicBezTo>
                    <a:pt x="21680" y="659257"/>
                    <a:pt x="14175" y="656149"/>
                    <a:pt x="8642" y="650615"/>
                  </a:cubicBezTo>
                  <a:cubicBezTo>
                    <a:pt x="3109" y="645082"/>
                    <a:pt x="0" y="637577"/>
                    <a:pt x="0" y="629752"/>
                  </a:cubicBezTo>
                  <a:lnTo>
                    <a:pt x="0" y="29505"/>
                  </a:lnTo>
                  <a:cubicBezTo>
                    <a:pt x="0" y="21680"/>
                    <a:pt x="3109" y="14175"/>
                    <a:pt x="8642" y="8642"/>
                  </a:cubicBezTo>
                  <a:cubicBezTo>
                    <a:pt x="14175" y="3109"/>
                    <a:pt x="21680" y="0"/>
                    <a:pt x="295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03675">
              <a:solidFill>
                <a:srgbClr val="C2D0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8775" lIns="248775" spcFirstLastPara="1" rIns="248775" wrap="square" tIns="248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1"/>
            <p:cNvSpPr txBox="1"/>
            <p:nvPr/>
          </p:nvSpPr>
          <p:spPr>
            <a:xfrm>
              <a:off x="0" y="-28575"/>
              <a:ext cx="1658700" cy="68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8225" lIns="138225" spcFirstLastPara="1" rIns="138225" wrap="square" tIns="138225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48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21"/>
          <p:cNvSpPr txBox="1"/>
          <p:nvPr/>
        </p:nvSpPr>
        <p:spPr>
          <a:xfrm>
            <a:off x="15888175" y="424225"/>
            <a:ext cx="137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/202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>
              <a:solidFill>
                <a:srgbClr val="C2D076"/>
              </a:solidFill>
            </a:endParaRPr>
          </a:p>
        </p:txBody>
      </p:sp>
      <p:pic>
        <p:nvPicPr>
          <p:cNvPr id="175" name="Google Shape;175;p21" title="Recording2026-04-02040418-ezgif.com-video-to-gif-converter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7475" y="3206081"/>
            <a:ext cx="11925176" cy="5649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D076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/>
        </p:nvSpPr>
        <p:spPr>
          <a:xfrm>
            <a:off x="1028700" y="4636450"/>
            <a:ext cx="97980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Future Work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15888175" y="424225"/>
            <a:ext cx="137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b="1" lang="en-US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r>
              <a:rPr b="1" i="0" lang="en-US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/202</a:t>
            </a:r>
            <a:r>
              <a:rPr b="1" lang="en-US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2" name="Google Shape;182;p22" title="black_SPE.png"/>
          <p:cNvPicPr preferRelativeResize="0"/>
          <p:nvPr/>
        </p:nvPicPr>
        <p:blipFill rotWithShape="1">
          <a:blip r:embed="rId3">
            <a:alphaModFix/>
          </a:blip>
          <a:srcRect b="0" l="70" r="70" t="0"/>
          <a:stretch/>
        </p:blipFill>
        <p:spPr>
          <a:xfrm>
            <a:off x="14191500" y="8238750"/>
            <a:ext cx="4096512" cy="204825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 txBox="1"/>
          <p:nvPr/>
        </p:nvSpPr>
        <p:spPr>
          <a:xfrm>
            <a:off x="9439812" y="1748537"/>
            <a:ext cx="7122600" cy="6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33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9"/>
              <a:buFont typeface="Inter"/>
              <a:buChar char="-"/>
            </a:pPr>
            <a:r>
              <a:rPr lang="en-US" sz="2799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Automated data pipeline (dataset updates)</a:t>
            </a:r>
            <a:endParaRPr sz="2799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33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9"/>
              <a:buFont typeface="Inter"/>
              <a:buChar char="-"/>
            </a:pPr>
            <a:r>
              <a:rPr lang="en-US" sz="2799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Enhanced feature engineering (lags, rolling, seasonality)</a:t>
            </a:r>
            <a:endParaRPr sz="2799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33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9"/>
              <a:buFont typeface="Inter"/>
              <a:buChar char="-"/>
            </a:pPr>
            <a:r>
              <a:rPr lang="en-US" sz="2799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Scenario-based &amp; business metrics evaluation</a:t>
            </a:r>
            <a:endParaRPr sz="2799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33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9"/>
              <a:buFont typeface="Inter"/>
              <a:buChar char="-"/>
            </a:pPr>
            <a:r>
              <a:rPr lang="en-US" sz="2799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API deployment (FastAPI / model serving)</a:t>
            </a:r>
            <a:endParaRPr sz="2799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33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9"/>
              <a:buFont typeface="Inter"/>
              <a:buChar char="-"/>
            </a:pPr>
            <a:r>
              <a:rPr lang="en-US" sz="2799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Data drift monitoring &amp; retraining logic</a:t>
            </a:r>
            <a:endParaRPr sz="2799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33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9"/>
              <a:buFont typeface="Inter"/>
              <a:buChar char="-"/>
            </a:pPr>
            <a:r>
              <a:rPr lang="en-US" sz="2799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Expanded infrastructure-constrained scenarios</a:t>
            </a:r>
            <a:endParaRPr sz="2799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514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23"/>
          <p:cNvGrpSpPr/>
          <p:nvPr/>
        </p:nvGrpSpPr>
        <p:grpSpPr>
          <a:xfrm>
            <a:off x="774218" y="2177400"/>
            <a:ext cx="5097676" cy="7508867"/>
            <a:chOff x="0" y="-28575"/>
            <a:chExt cx="1342589" cy="1977631"/>
          </a:xfrm>
        </p:grpSpPr>
        <p:sp>
          <p:nvSpPr>
            <p:cNvPr id="189" name="Google Shape;189;p23"/>
            <p:cNvSpPr/>
            <p:nvPr/>
          </p:nvSpPr>
          <p:spPr>
            <a:xfrm>
              <a:off x="0" y="0"/>
              <a:ext cx="1342589" cy="1949056"/>
            </a:xfrm>
            <a:custGeom>
              <a:rect b="b" l="l" r="r" t="t"/>
              <a:pathLst>
                <a:path extrusionOk="0" h="1949056" w="1342589">
                  <a:moveTo>
                    <a:pt x="36449" y="0"/>
                  </a:moveTo>
                  <a:lnTo>
                    <a:pt x="1306139" y="0"/>
                  </a:lnTo>
                  <a:cubicBezTo>
                    <a:pt x="1315806" y="0"/>
                    <a:pt x="1325077" y="3840"/>
                    <a:pt x="1331913" y="10676"/>
                  </a:cubicBezTo>
                  <a:cubicBezTo>
                    <a:pt x="1338748" y="17511"/>
                    <a:pt x="1342589" y="26782"/>
                    <a:pt x="1342589" y="36449"/>
                  </a:cubicBezTo>
                  <a:lnTo>
                    <a:pt x="1342589" y="1912607"/>
                  </a:lnTo>
                  <a:cubicBezTo>
                    <a:pt x="1342589" y="1932737"/>
                    <a:pt x="1326270" y="1949056"/>
                    <a:pt x="1306139" y="1949056"/>
                  </a:cubicBezTo>
                  <a:lnTo>
                    <a:pt x="36449" y="1949056"/>
                  </a:lnTo>
                  <a:cubicBezTo>
                    <a:pt x="16319" y="1949056"/>
                    <a:pt x="0" y="1932737"/>
                    <a:pt x="0" y="1912607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rgbClr val="C2D076"/>
            </a:solidFill>
            <a:ln cap="rnd" cmpd="sng" w="19050">
              <a:solidFill>
                <a:srgbClr val="C2D0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3"/>
            <p:cNvSpPr txBox="1"/>
            <p:nvPr/>
          </p:nvSpPr>
          <p:spPr>
            <a:xfrm>
              <a:off x="0" y="-28575"/>
              <a:ext cx="1342589" cy="1977631"/>
            </a:xfrm>
            <a:prstGeom prst="rect">
              <a:avLst/>
            </a:prstGeom>
            <a:solidFill>
              <a:srgbClr val="C2D076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23"/>
          <p:cNvGrpSpPr/>
          <p:nvPr/>
        </p:nvGrpSpPr>
        <p:grpSpPr>
          <a:xfrm>
            <a:off x="6109984" y="2177400"/>
            <a:ext cx="11513055" cy="7508867"/>
            <a:chOff x="0" y="-28575"/>
            <a:chExt cx="3032225" cy="1977631"/>
          </a:xfrm>
        </p:grpSpPr>
        <p:sp>
          <p:nvSpPr>
            <p:cNvPr id="192" name="Google Shape;192;p23"/>
            <p:cNvSpPr/>
            <p:nvPr/>
          </p:nvSpPr>
          <p:spPr>
            <a:xfrm>
              <a:off x="0" y="0"/>
              <a:ext cx="3032225" cy="1949056"/>
            </a:xfrm>
            <a:custGeom>
              <a:rect b="b" l="l" r="r" t="t"/>
              <a:pathLst>
                <a:path extrusionOk="0" h="1949056" w="3032225">
                  <a:moveTo>
                    <a:pt x="16139" y="0"/>
                  </a:moveTo>
                  <a:lnTo>
                    <a:pt x="3016086" y="0"/>
                  </a:lnTo>
                  <a:cubicBezTo>
                    <a:pt x="3020366" y="0"/>
                    <a:pt x="3024471" y="1700"/>
                    <a:pt x="3027498" y="4727"/>
                  </a:cubicBezTo>
                  <a:cubicBezTo>
                    <a:pt x="3030525" y="7754"/>
                    <a:pt x="3032225" y="11859"/>
                    <a:pt x="3032225" y="16139"/>
                  </a:cubicBezTo>
                  <a:lnTo>
                    <a:pt x="3032225" y="1932917"/>
                  </a:lnTo>
                  <a:cubicBezTo>
                    <a:pt x="3032225" y="1937197"/>
                    <a:pt x="3030525" y="1941302"/>
                    <a:pt x="3027498" y="1944329"/>
                  </a:cubicBezTo>
                  <a:cubicBezTo>
                    <a:pt x="3024471" y="1947356"/>
                    <a:pt x="3020366" y="1949056"/>
                    <a:pt x="3016086" y="1949056"/>
                  </a:cubicBezTo>
                  <a:lnTo>
                    <a:pt x="16139" y="1949056"/>
                  </a:lnTo>
                  <a:cubicBezTo>
                    <a:pt x="11859" y="1949056"/>
                    <a:pt x="7754" y="1947356"/>
                    <a:pt x="4727" y="1944329"/>
                  </a:cubicBezTo>
                  <a:cubicBezTo>
                    <a:pt x="1700" y="1941302"/>
                    <a:pt x="0" y="1937197"/>
                    <a:pt x="0" y="1932917"/>
                  </a:cubicBezTo>
                  <a:lnTo>
                    <a:pt x="0" y="16139"/>
                  </a:lnTo>
                  <a:cubicBezTo>
                    <a:pt x="0" y="11859"/>
                    <a:pt x="1700" y="7754"/>
                    <a:pt x="4727" y="4727"/>
                  </a:cubicBezTo>
                  <a:cubicBezTo>
                    <a:pt x="7754" y="1700"/>
                    <a:pt x="11859" y="0"/>
                    <a:pt x="16139" y="0"/>
                  </a:cubicBezTo>
                  <a:close/>
                </a:path>
              </a:pathLst>
            </a:custGeom>
            <a:solidFill>
              <a:srgbClr val="C2D076"/>
            </a:solidFill>
            <a:ln cap="rnd" cmpd="sng" w="19050">
              <a:solidFill>
                <a:srgbClr val="C2D0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3"/>
            <p:cNvSpPr txBox="1"/>
            <p:nvPr/>
          </p:nvSpPr>
          <p:spPr>
            <a:xfrm>
              <a:off x="0" y="-28575"/>
              <a:ext cx="3032225" cy="1977631"/>
            </a:xfrm>
            <a:prstGeom prst="rect">
              <a:avLst/>
            </a:prstGeom>
            <a:solidFill>
              <a:srgbClr val="C2D076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23"/>
          <p:cNvGrpSpPr/>
          <p:nvPr/>
        </p:nvGrpSpPr>
        <p:grpSpPr>
          <a:xfrm>
            <a:off x="9682440" y="2566614"/>
            <a:ext cx="4368316" cy="647237"/>
            <a:chOff x="0" y="0"/>
            <a:chExt cx="1150503" cy="170466"/>
          </a:xfrm>
        </p:grpSpPr>
        <p:sp>
          <p:nvSpPr>
            <p:cNvPr id="195" name="Google Shape;195;p23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noFill/>
            <a:ln cap="sq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3"/>
            <p:cNvSpPr txBox="1"/>
            <p:nvPr/>
          </p:nvSpPr>
          <p:spPr>
            <a:xfrm>
              <a:off x="3" y="3"/>
              <a:ext cx="1150500" cy="170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23"/>
          <p:cNvSpPr txBox="1"/>
          <p:nvPr/>
        </p:nvSpPr>
        <p:spPr>
          <a:xfrm>
            <a:off x="5469973" y="562949"/>
            <a:ext cx="73482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Tech Stack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1747770" y="2693383"/>
            <a:ext cx="3150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chemeClr val="dk1"/>
                </a:solidFill>
              </a:rPr>
              <a:t>Tools &amp; Deployment</a:t>
            </a:r>
            <a:endParaRPr b="1" sz="2450">
              <a:solidFill>
                <a:schemeClr val="dk1"/>
              </a:solidFill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9588161" y="2693375"/>
            <a:ext cx="4635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Programming Language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1747770" y="5139390"/>
            <a:ext cx="3150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chemeClr val="dk1"/>
                </a:solidFill>
              </a:rPr>
              <a:t>Version Control</a:t>
            </a:r>
            <a:endParaRPr b="1" sz="2450">
              <a:solidFill>
                <a:schemeClr val="dk1"/>
              </a:solidFill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779571" y="7392900"/>
            <a:ext cx="5097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chemeClr val="dk1"/>
                </a:solidFill>
              </a:rPr>
              <a:t>Development Environment</a:t>
            </a:r>
            <a:endParaRPr b="1" sz="2450">
              <a:solidFill>
                <a:schemeClr val="dk1"/>
              </a:solidFill>
            </a:endParaRPr>
          </a:p>
        </p:txBody>
      </p:sp>
      <p:pic>
        <p:nvPicPr>
          <p:cNvPr id="202" name="Google Shape;202;p23" title="c2d076_SPE.png"/>
          <p:cNvPicPr preferRelativeResize="0"/>
          <p:nvPr/>
        </p:nvPicPr>
        <p:blipFill rotWithShape="1">
          <a:blip r:embed="rId3">
            <a:alphaModFix/>
          </a:blip>
          <a:srcRect b="3410" l="0" r="0" t="3419"/>
          <a:stretch/>
        </p:blipFill>
        <p:spPr>
          <a:xfrm>
            <a:off x="0" y="31840"/>
            <a:ext cx="4094201" cy="204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 txBox="1"/>
          <p:nvPr/>
        </p:nvSpPr>
        <p:spPr>
          <a:xfrm>
            <a:off x="15888175" y="424225"/>
            <a:ext cx="137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r>
              <a:rPr b="1" i="0" lang="en-US" sz="1200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/202</a:t>
            </a:r>
            <a:r>
              <a:rPr b="1" lang="en-US" sz="120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>
              <a:solidFill>
                <a:srgbClr val="C2D076"/>
              </a:solidFill>
            </a:endParaRPr>
          </a:p>
        </p:txBody>
      </p:sp>
      <p:pic>
        <p:nvPicPr>
          <p:cNvPr id="204" name="Google Shape;204;p23" title="numpy-logo-png_seeklogo-485085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87245" y="3990664"/>
            <a:ext cx="1872600" cy="187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3" title="pandas-head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89074" y="4520292"/>
            <a:ext cx="2012549" cy="811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3" title="92254613-279c8000-ee9f-11ea-9b73-5622a7d95f3f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375075" y="5672227"/>
            <a:ext cx="1188950" cy="118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3" title="4152242-middle-removebg-previe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310673" y="5663740"/>
            <a:ext cx="2012545" cy="118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3" title="Python-Symbol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88575" y="4067080"/>
            <a:ext cx="1872599" cy="10533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23"/>
          <p:cNvGrpSpPr/>
          <p:nvPr/>
        </p:nvGrpSpPr>
        <p:grpSpPr>
          <a:xfrm>
            <a:off x="1178785" y="2557856"/>
            <a:ext cx="4368343" cy="647242"/>
            <a:chOff x="0" y="0"/>
            <a:chExt cx="1150503" cy="170466"/>
          </a:xfrm>
        </p:grpSpPr>
        <p:sp>
          <p:nvSpPr>
            <p:cNvPr id="210" name="Google Shape;210;p23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noFill/>
            <a:ln cap="sq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3"/>
            <p:cNvSpPr txBox="1"/>
            <p:nvPr/>
          </p:nvSpPr>
          <p:spPr>
            <a:xfrm>
              <a:off x="3" y="3"/>
              <a:ext cx="1150500" cy="170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23"/>
          <p:cNvGrpSpPr/>
          <p:nvPr/>
        </p:nvGrpSpPr>
        <p:grpSpPr>
          <a:xfrm>
            <a:off x="1180790" y="4982888"/>
            <a:ext cx="4368343" cy="647242"/>
            <a:chOff x="0" y="0"/>
            <a:chExt cx="1150503" cy="170466"/>
          </a:xfrm>
        </p:grpSpPr>
        <p:sp>
          <p:nvSpPr>
            <p:cNvPr id="213" name="Google Shape;213;p23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noFill/>
            <a:ln cap="sq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3"/>
            <p:cNvSpPr txBox="1"/>
            <p:nvPr/>
          </p:nvSpPr>
          <p:spPr>
            <a:xfrm>
              <a:off x="3" y="3"/>
              <a:ext cx="1150500" cy="170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23"/>
          <p:cNvGrpSpPr/>
          <p:nvPr/>
        </p:nvGrpSpPr>
        <p:grpSpPr>
          <a:xfrm>
            <a:off x="1182795" y="7240814"/>
            <a:ext cx="4368343" cy="647242"/>
            <a:chOff x="0" y="0"/>
            <a:chExt cx="1150503" cy="170466"/>
          </a:xfrm>
        </p:grpSpPr>
        <p:sp>
          <p:nvSpPr>
            <p:cNvPr id="216" name="Google Shape;216;p23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noFill/>
            <a:ln cap="sq" cmpd="sng" w="190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3"/>
            <p:cNvSpPr txBox="1"/>
            <p:nvPr/>
          </p:nvSpPr>
          <p:spPr>
            <a:xfrm>
              <a:off x="3" y="3"/>
              <a:ext cx="1150500" cy="170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8" name="Google Shape;218;p23" title="R-removebg-preview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629402" y="7099247"/>
            <a:ext cx="2012550" cy="12455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9" name="Google Shape;219;p23"/>
          <p:cNvCxnSpPr>
            <a:stCxn id="208" idx="2"/>
            <a:endCxn id="220" idx="0"/>
          </p:cNvCxnSpPr>
          <p:nvPr/>
        </p:nvCxnSpPr>
        <p:spPr>
          <a:xfrm flipH="1" rot="-5400000">
            <a:off x="9909575" y="4835746"/>
            <a:ext cx="1102800" cy="167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3"/>
          <p:cNvCxnSpPr>
            <a:stCxn id="208" idx="2"/>
            <a:endCxn id="222" idx="0"/>
          </p:cNvCxnSpPr>
          <p:nvPr/>
        </p:nvCxnSpPr>
        <p:spPr>
          <a:xfrm rot="5400000">
            <a:off x="8330225" y="4907896"/>
            <a:ext cx="1082100" cy="15072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3"/>
          <p:cNvSpPr txBox="1"/>
          <p:nvPr/>
        </p:nvSpPr>
        <p:spPr>
          <a:xfrm>
            <a:off x="7240842" y="6202677"/>
            <a:ext cx="175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E69138"/>
                </a:highlight>
              </a:rPr>
              <a:t>statsmodels </a:t>
            </a:r>
            <a:endParaRPr sz="2000">
              <a:solidFill>
                <a:schemeClr val="dk1"/>
              </a:solidFill>
              <a:highlight>
                <a:srgbClr val="E6913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23" name="Google Shape;223;p23"/>
          <p:cNvCxnSpPr/>
          <p:nvPr/>
        </p:nvCxnSpPr>
        <p:spPr>
          <a:xfrm flipH="1" rot="-5400000">
            <a:off x="7914309" y="6724505"/>
            <a:ext cx="1147200" cy="928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3"/>
          <p:cNvCxnSpPr/>
          <p:nvPr/>
        </p:nvCxnSpPr>
        <p:spPr>
          <a:xfrm rot="5400000">
            <a:off x="7016675" y="6754171"/>
            <a:ext cx="1146300" cy="869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23"/>
          <p:cNvSpPr txBox="1"/>
          <p:nvPr/>
        </p:nvSpPr>
        <p:spPr>
          <a:xfrm>
            <a:off x="9177725" y="6228068"/>
            <a:ext cx="118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6AA84F"/>
                </a:highlight>
              </a:rPr>
              <a:t>Prophet</a:t>
            </a:r>
            <a:endParaRPr sz="2000">
              <a:solidFill>
                <a:schemeClr val="dk1"/>
              </a:solidFill>
              <a:highlight>
                <a:srgbClr val="6AA84F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10702500" y="6223243"/>
            <a:ext cx="118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3C78D8"/>
                </a:highlight>
              </a:rPr>
              <a:t>ruptures </a:t>
            </a:r>
            <a:endParaRPr sz="2000">
              <a:solidFill>
                <a:schemeClr val="dk1"/>
              </a:solidFill>
              <a:highlight>
                <a:srgbClr val="3C78D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26" name="Google Shape;226;p23"/>
          <p:cNvCxnSpPr/>
          <p:nvPr/>
        </p:nvCxnSpPr>
        <p:spPr>
          <a:xfrm flipH="1" rot="-5400000">
            <a:off x="9131975" y="5600568"/>
            <a:ext cx="1133100" cy="147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23"/>
          <p:cNvSpPr txBox="1"/>
          <p:nvPr/>
        </p:nvSpPr>
        <p:spPr>
          <a:xfrm>
            <a:off x="6744032" y="7701726"/>
            <a:ext cx="118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B45F06"/>
                </a:highlight>
              </a:rPr>
              <a:t>SARIMA </a:t>
            </a:r>
            <a:endParaRPr sz="2000">
              <a:solidFill>
                <a:schemeClr val="dk1"/>
              </a:solidFill>
              <a:highlight>
                <a:srgbClr val="B45F06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8218958" y="7722741"/>
            <a:ext cx="1592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BF9000"/>
                </a:highlight>
              </a:rPr>
              <a:t>SARIMAX </a:t>
            </a:r>
            <a:endParaRPr sz="2000">
              <a:solidFill>
                <a:schemeClr val="dk1"/>
              </a:solidFill>
              <a:highlight>
                <a:srgbClr val="BF9000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10323283" y="7694511"/>
            <a:ext cx="224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1155CC"/>
                </a:highlight>
              </a:rPr>
              <a:t>PELT algorithm</a:t>
            </a:r>
            <a:endParaRPr sz="2000">
              <a:solidFill>
                <a:schemeClr val="dk1"/>
              </a:solidFill>
              <a:highlight>
                <a:srgbClr val="1155C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0" name="Google Shape;230;p23"/>
          <p:cNvCxnSpPr>
            <a:stCxn id="220" idx="2"/>
            <a:endCxn id="229" idx="0"/>
          </p:cNvCxnSpPr>
          <p:nvPr/>
        </p:nvCxnSpPr>
        <p:spPr>
          <a:xfrm flipH="1" rot="-5400000">
            <a:off x="10881750" y="7131043"/>
            <a:ext cx="978600" cy="1482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1" name="Google Shape;231;p23" title="streamlit-logo-secondary-colormark-darktex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97600" y="3484607"/>
            <a:ext cx="1507200" cy="881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title="8b8138c4491769dd53c5dc09b6548ecf-removebg-preview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72593" y="3564213"/>
            <a:ext cx="1371000" cy="96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 title="0_rxqHVEdNxiUvrZyj-removebg-preview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626336" y="3210160"/>
            <a:ext cx="2461925" cy="1471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title="Databricks-Courses-1-806x393-removebg-preview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07225" y="7888046"/>
            <a:ext cx="3150600" cy="1535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title="Git-Logo-500x313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930150" y="6067337"/>
            <a:ext cx="1188900" cy="744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title="png-transparent-github-logo-removebg-preview.png">
            <a:hlinkClick r:id="rId15"/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496468" y="5935303"/>
            <a:ext cx="928201" cy="83820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3388479" y="6695884"/>
            <a:ext cx="118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17"/>
              </a:rPr>
              <a:t>Repository</a:t>
            </a:r>
            <a:endParaRPr sz="1500" u="sng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8" name="Google Shape;238;p23" title="spaces-removebg-preview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854656" y="3359174"/>
            <a:ext cx="2243701" cy="1210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D076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/>
        </p:nvSpPr>
        <p:spPr>
          <a:xfrm>
            <a:off x="1028700" y="4636453"/>
            <a:ext cx="68865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 &amp; 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15888175" y="424225"/>
            <a:ext cx="137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b="1" lang="en-US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5</a:t>
            </a:r>
            <a:r>
              <a:rPr b="1" i="0" lang="en-US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/202</a:t>
            </a:r>
            <a:r>
              <a:rPr b="1" lang="en-US"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45" name="Google Shape;245;p24" title="black_SPE.png"/>
          <p:cNvPicPr preferRelativeResize="0"/>
          <p:nvPr/>
        </p:nvPicPr>
        <p:blipFill rotWithShape="1">
          <a:blip r:embed="rId3">
            <a:alphaModFix/>
          </a:blip>
          <a:srcRect b="0" l="70" r="70" t="0"/>
          <a:stretch/>
        </p:blipFill>
        <p:spPr>
          <a:xfrm>
            <a:off x="14191500" y="8238750"/>
            <a:ext cx="4096512" cy="2048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Dark Minimalis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